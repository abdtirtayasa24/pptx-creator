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4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5F7F5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  <c:pt idx="5">
                  <c:v>2060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24</c:v>
                </c:pt>
                <c:pt idx="2">
                  <c:v>17</c:v>
                </c:pt>
                <c:pt idx="3">
                  <c:v>31</c:v>
                </c:pt>
                <c:pt idx="4">
                  <c:v>25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95-43FC-9765-74F31A5953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C59A4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  <c:pt idx="5">
                  <c:v>2060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</c:v>
                </c:pt>
                <c:pt idx="1">
                  <c:v>281</c:v>
                </c:pt>
                <c:pt idx="2">
                  <c:v>258</c:v>
                </c:pt>
                <c:pt idx="3">
                  <c:v>248</c:v>
                </c:pt>
                <c:pt idx="4">
                  <c:v>267</c:v>
                </c:pt>
                <c:pt idx="5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95-43FC-9765-74F31A5953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B65A43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  <c:pt idx="5">
                  <c:v>2060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921</c:v>
                </c:pt>
                <c:pt idx="1">
                  <c:v>1928</c:v>
                </c:pt>
                <c:pt idx="2">
                  <c:v>1920</c:v>
                </c:pt>
                <c:pt idx="3">
                  <c:v>1867</c:v>
                </c:pt>
                <c:pt idx="4">
                  <c:v>1861</c:v>
                </c:pt>
                <c:pt idx="5">
                  <c:v>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95-43FC-9765-74F31A5953F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Severe</c:v>
                </c:pt>
              </c:strCache>
            </c:strRef>
          </c:tx>
          <c:spPr>
            <a:solidFill>
              <a:srgbClr val="9A3E3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  <c:pt idx="5">
                  <c:v>2060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D95-43FC-9765-74F31A5953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4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DF8"/>
    </a:solidFill>
    <a:ln w="12700" cap="flat">
      <a:solidFill>
        <a:srgbClr val="FFFDF8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Addiction score</c:v>
                </c:pt>
              </c:strCache>
            </c:strRef>
          </c:tx>
          <c:spPr>
            <a:ln w="31750" cap="flat">
              <a:solidFill>
                <a:srgbClr val="B65A4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65A43"/>
              </a:solidFill>
              <a:ln w="9525" cap="flat">
                <a:solidFill>
                  <a:srgbClr val="B65A43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2015</c:v>
                </c:pt>
                <c:pt idx="1">
                  <c:v>2018</c:v>
                </c:pt>
                <c:pt idx="2">
                  <c:v>2021</c:v>
                </c:pt>
                <c:pt idx="3">
                  <c:v>2024</c:v>
                </c:pt>
                <c:pt idx="4">
                  <c:v>2027</c:v>
                </c:pt>
                <c:pt idx="5">
                  <c:v>2030</c:v>
                </c:pt>
                <c:pt idx="6">
                  <c:v>2033</c:v>
                </c:pt>
                <c:pt idx="7">
                  <c:v>2036</c:v>
                </c:pt>
                <c:pt idx="8">
                  <c:v>2039</c:v>
                </c:pt>
                <c:pt idx="9">
                  <c:v>2042</c:v>
                </c:pt>
                <c:pt idx="10">
                  <c:v>2045</c:v>
                </c:pt>
                <c:pt idx="11">
                  <c:v>2048</c:v>
                </c:pt>
                <c:pt idx="12">
                  <c:v>2051</c:v>
                </c:pt>
                <c:pt idx="13">
                  <c:v>2054</c:v>
                </c:pt>
                <c:pt idx="14">
                  <c:v>2057</c:v>
                </c:pt>
                <c:pt idx="15">
                  <c:v>2060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58.84</c:v>
                </c:pt>
                <c:pt idx="1">
                  <c:v>58.36</c:v>
                </c:pt>
                <c:pt idx="2">
                  <c:v>58.83</c:v>
                </c:pt>
                <c:pt idx="3">
                  <c:v>56.83</c:v>
                </c:pt>
                <c:pt idx="4">
                  <c:v>58.29</c:v>
                </c:pt>
                <c:pt idx="5">
                  <c:v>58.17</c:v>
                </c:pt>
                <c:pt idx="6">
                  <c:v>59.02</c:v>
                </c:pt>
                <c:pt idx="7">
                  <c:v>57.81</c:v>
                </c:pt>
                <c:pt idx="8">
                  <c:v>58.32</c:v>
                </c:pt>
                <c:pt idx="9">
                  <c:v>59.02</c:v>
                </c:pt>
                <c:pt idx="10">
                  <c:v>58.92</c:v>
                </c:pt>
                <c:pt idx="11">
                  <c:v>58.6</c:v>
                </c:pt>
                <c:pt idx="12">
                  <c:v>58.58</c:v>
                </c:pt>
                <c:pt idx="13">
                  <c:v>58.57</c:v>
                </c:pt>
                <c:pt idx="14">
                  <c:v>58.53</c:v>
                </c:pt>
                <c:pt idx="15">
                  <c:v>57.65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4E-4FC9-8CF7-00F6433F8C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Attention span</c:v>
                </c:pt>
              </c:strCache>
            </c:strRef>
          </c:tx>
          <c:spPr>
            <a:ln w="31750" cap="flat">
              <a:solidFill>
                <a:srgbClr val="4B8F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B8F88"/>
              </a:solidFill>
              <a:ln w="9525" cap="flat">
                <a:solidFill>
                  <a:srgbClr val="4B8F88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2015</c:v>
                </c:pt>
                <c:pt idx="1">
                  <c:v>2018</c:v>
                </c:pt>
                <c:pt idx="2">
                  <c:v>2021</c:v>
                </c:pt>
                <c:pt idx="3">
                  <c:v>2024</c:v>
                </c:pt>
                <c:pt idx="4">
                  <c:v>2027</c:v>
                </c:pt>
                <c:pt idx="5">
                  <c:v>2030</c:v>
                </c:pt>
                <c:pt idx="6">
                  <c:v>2033</c:v>
                </c:pt>
                <c:pt idx="7">
                  <c:v>2036</c:v>
                </c:pt>
                <c:pt idx="8">
                  <c:v>2039</c:v>
                </c:pt>
                <c:pt idx="9">
                  <c:v>2042</c:v>
                </c:pt>
                <c:pt idx="10">
                  <c:v>2045</c:v>
                </c:pt>
                <c:pt idx="11">
                  <c:v>2048</c:v>
                </c:pt>
                <c:pt idx="12">
                  <c:v>2051</c:v>
                </c:pt>
                <c:pt idx="13">
                  <c:v>2054</c:v>
                </c:pt>
                <c:pt idx="14">
                  <c:v>2057</c:v>
                </c:pt>
                <c:pt idx="15">
                  <c:v>2060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81.27</c:v>
                </c:pt>
                <c:pt idx="1">
                  <c:v>81.63</c:v>
                </c:pt>
                <c:pt idx="2">
                  <c:v>81.61</c:v>
                </c:pt>
                <c:pt idx="3">
                  <c:v>82.57</c:v>
                </c:pt>
                <c:pt idx="4">
                  <c:v>81.61</c:v>
                </c:pt>
                <c:pt idx="5">
                  <c:v>81.72</c:v>
                </c:pt>
                <c:pt idx="6">
                  <c:v>81.349999999999994</c:v>
                </c:pt>
                <c:pt idx="7">
                  <c:v>82.16</c:v>
                </c:pt>
                <c:pt idx="8">
                  <c:v>81.64</c:v>
                </c:pt>
                <c:pt idx="9">
                  <c:v>81.03</c:v>
                </c:pt>
                <c:pt idx="10">
                  <c:v>81.39</c:v>
                </c:pt>
                <c:pt idx="11">
                  <c:v>81.53</c:v>
                </c:pt>
                <c:pt idx="12">
                  <c:v>81.2</c:v>
                </c:pt>
                <c:pt idx="13">
                  <c:v>81.319999999999993</c:v>
                </c:pt>
                <c:pt idx="14">
                  <c:v>81.510000000000005</c:v>
                </c:pt>
                <c:pt idx="15">
                  <c:v>81.84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4E-4FC9-8CF7-00F6433F8C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6"/>
          <c:min val="55"/>
        </c:scaling>
        <c:delete val="0"/>
        <c:axPos val="l"/>
        <c:majorGridlines>
          <c:spPr>
            <a:ln w="6350" cap="flat">
              <a:solidFill>
                <a:srgbClr val="DDD4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DF8"/>
    </a:solidFill>
    <a:ln w="12700" cap="flat">
      <a:solidFill>
        <a:srgbClr val="FFFDF8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 with addiction_score</c:v>
                </c:pt>
              </c:strCache>
            </c:strRef>
          </c:tx>
          <c:spPr>
            <a:solidFill>
              <a:srgbClr val="B65A43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attention span score</c:v>
                </c:pt>
                <c:pt idx="1">
                  <c:v>dopamine dependency score</c:v>
                </c:pt>
                <c:pt idx="2">
                  <c:v>tiktok minutes daily</c:v>
                </c:pt>
                <c:pt idx="3">
                  <c:v>instagram minutes daily</c:v>
                </c:pt>
                <c:pt idx="4">
                  <c:v>sleep quality index</c:v>
                </c:pt>
                <c:pt idx="5">
                  <c:v>night usage ratio</c:v>
                </c:pt>
                <c:pt idx="6">
                  <c:v>MHRI</c:v>
                </c:pt>
                <c:pt idx="7">
                  <c:v>addiction pressure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-0.85</c:v>
                </c:pt>
                <c:pt idx="1">
                  <c:v>0.85</c:v>
                </c:pt>
                <c:pt idx="2">
                  <c:v>0.65</c:v>
                </c:pt>
                <c:pt idx="3">
                  <c:v>0.56000000000000005</c:v>
                </c:pt>
                <c:pt idx="4">
                  <c:v>-0.13</c:v>
                </c:pt>
                <c:pt idx="5">
                  <c:v>0.13</c:v>
                </c:pt>
                <c:pt idx="6">
                  <c:v>0.08</c:v>
                </c:pt>
                <c:pt idx="7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83-4680-B203-C2C1B96016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b"/>
        <c:majorGridlines>
          <c:spPr>
            <a:ln w="6350" cap="flat">
              <a:solidFill>
                <a:srgbClr val="DDD4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DF8"/>
    </a:solidFill>
    <a:ln w="12700" cap="flat">
      <a:solidFill>
        <a:srgbClr val="FFFDF8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Country r</c:v>
                </c:pt>
              </c:strCache>
            </c:strRef>
          </c:tx>
          <c:spPr>
            <a:solidFill>
              <a:srgbClr val="4B8F8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ASI</c:v>
                </c:pt>
                <c:pt idx="1">
                  <c:v>Attention span</c:v>
                </c:pt>
                <c:pt idx="2">
                  <c:v>Dopamine dep.</c:v>
                </c:pt>
                <c:pt idx="3">
                  <c:v>TikTok min</c:v>
                </c:pt>
                <c:pt idx="4">
                  <c:v>Instagram min</c:v>
                </c:pt>
                <c:pt idx="5">
                  <c:v>MHRI</c:v>
                </c:pt>
                <c:pt idx="6">
                  <c:v>Sleep hours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0.96</c:v>
                </c:pt>
                <c:pt idx="1">
                  <c:v>-0.88</c:v>
                </c:pt>
                <c:pt idx="2">
                  <c:v>0.88</c:v>
                </c:pt>
                <c:pt idx="3">
                  <c:v>0.72</c:v>
                </c:pt>
                <c:pt idx="4">
                  <c:v>0.56000000000000005</c:v>
                </c:pt>
                <c:pt idx="5">
                  <c:v>-0.02</c:v>
                </c:pt>
                <c:pt idx="6">
                  <c:v>-0.01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77-478F-9AE0-FF650DADC6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b"/>
        <c:majorGridlines>
          <c:spPr>
            <a:ln w="6350" cap="flat">
              <a:solidFill>
                <a:srgbClr val="DDD4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DF8"/>
    </a:solidFill>
    <a:ln w="12700" cap="flat">
      <a:solidFill>
        <a:srgbClr val="FFFDF8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Weekday hours</c:v>
                </c:pt>
              </c:strCache>
            </c:strRef>
          </c:tx>
          <c:spPr>
            <a:solidFill>
              <a:srgbClr val="4B8F88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Discord</c:v>
                </c:pt>
                <c:pt idx="1">
                  <c:v>Twitch</c:v>
                </c:pt>
                <c:pt idx="2">
                  <c:v>X/Twitter</c:v>
                </c:pt>
                <c:pt idx="3">
                  <c:v>Instagram</c:v>
                </c:pt>
                <c:pt idx="4">
                  <c:v>YouTube</c:v>
                </c:pt>
                <c:pt idx="5">
                  <c:v>TikTok</c:v>
                </c:pt>
                <c:pt idx="6">
                  <c:v>Facebook</c:v>
                </c:pt>
                <c:pt idx="7">
                  <c:v>Reddit</c:v>
                </c:pt>
                <c:pt idx="8">
                  <c:v>LinkedIn</c:v>
                </c:pt>
                <c:pt idx="9">
                  <c:v>Snapchat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5.51</c:v>
                </c:pt>
                <c:pt idx="1">
                  <c:v>5.47</c:v>
                </c:pt>
                <c:pt idx="2">
                  <c:v>5.5</c:v>
                </c:pt>
                <c:pt idx="3">
                  <c:v>5.5</c:v>
                </c:pt>
                <c:pt idx="4">
                  <c:v>5.51</c:v>
                </c:pt>
                <c:pt idx="5">
                  <c:v>5.49</c:v>
                </c:pt>
                <c:pt idx="6">
                  <c:v>5.48</c:v>
                </c:pt>
                <c:pt idx="7">
                  <c:v>5.51</c:v>
                </c:pt>
                <c:pt idx="8">
                  <c:v>5.5</c:v>
                </c:pt>
                <c:pt idx="9">
                  <c:v>5.51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9B-41D4-A21F-9B6D3A6C2B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Weekend hours</c:v>
                </c:pt>
              </c:strCache>
            </c:strRef>
          </c:tx>
          <c:spPr>
            <a:solidFill>
              <a:srgbClr val="B65A43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Discord</c:v>
                </c:pt>
                <c:pt idx="1">
                  <c:v>Twitch</c:v>
                </c:pt>
                <c:pt idx="2">
                  <c:v>X/Twitter</c:v>
                </c:pt>
                <c:pt idx="3">
                  <c:v>Instagram</c:v>
                </c:pt>
                <c:pt idx="4">
                  <c:v>YouTube</c:v>
                </c:pt>
                <c:pt idx="5">
                  <c:v>TikTok</c:v>
                </c:pt>
                <c:pt idx="6">
                  <c:v>Facebook</c:v>
                </c:pt>
                <c:pt idx="7">
                  <c:v>Reddit</c:v>
                </c:pt>
                <c:pt idx="8">
                  <c:v>LinkedIn</c:v>
                </c:pt>
                <c:pt idx="9">
                  <c:v>Snapchat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8.06</c:v>
                </c:pt>
                <c:pt idx="1">
                  <c:v>8.0500000000000007</c:v>
                </c:pt>
                <c:pt idx="2">
                  <c:v>8.0399999999999991</c:v>
                </c:pt>
                <c:pt idx="3">
                  <c:v>8.02</c:v>
                </c:pt>
                <c:pt idx="4">
                  <c:v>8</c:v>
                </c:pt>
                <c:pt idx="5">
                  <c:v>8</c:v>
                </c:pt>
                <c:pt idx="6">
                  <c:v>7.99</c:v>
                </c:pt>
                <c:pt idx="7">
                  <c:v>7.99</c:v>
                </c:pt>
                <c:pt idx="8">
                  <c:v>7.98</c:v>
                </c:pt>
                <c:pt idx="9">
                  <c:v>7.97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9B-41D4-A21F-9B6D3A6C2B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4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DF8"/>
    </a:solidFill>
    <a:ln w="12700" cap="flat">
      <a:solidFill>
        <a:srgbClr val="FFFDF8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spPr>
            <a:solidFill>
              <a:srgbClr val="C59A4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Focus vs weekday</c:v>
                </c:pt>
                <c:pt idx="1">
                  <c:v>Focus vs weekend</c:v>
                </c:pt>
                <c:pt idx="2">
                  <c:v>Focus vs multitask</c:v>
                </c:pt>
                <c:pt idx="3">
                  <c:v>Activity vs weekday</c:v>
                </c:pt>
                <c:pt idx="4">
                  <c:v>Activity vs weekend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-7.0000000000000001E-3</c:v>
                </c:pt>
                <c:pt idx="2">
                  <c:v>5.0000000000000001E-3</c:v>
                </c:pt>
                <c:pt idx="3">
                  <c:v>3.0000000000000001E-3</c:v>
                </c:pt>
                <c:pt idx="4">
                  <c:v>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46-4E9F-802E-0DFDE7BEB8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2"/>
          <c:min val="-0.02"/>
        </c:scaling>
        <c:delete val="0"/>
        <c:axPos val="b"/>
        <c:majorGridlines>
          <c:spPr>
            <a:ln w="6350" cap="flat">
              <a:solidFill>
                <a:srgbClr val="DDD4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DF8"/>
    </a:solidFill>
    <a:ln w="12700" cap="flat">
      <a:solidFill>
        <a:srgbClr val="FFFDF8"/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Addiction score</c:v>
                </c:pt>
              </c:strCache>
            </c:strRef>
          </c:tx>
          <c:spPr>
            <a:ln w="25400" cap="flat">
              <a:solidFill>
                <a:srgbClr val="B65A4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65A43"/>
              </a:solidFill>
              <a:ln w="9525" cap="flat">
                <a:solidFill>
                  <a:srgbClr val="B65A43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13-17</c:v>
                </c:pt>
                <c:pt idx="1">
                  <c:v>18-24</c:v>
                </c:pt>
                <c:pt idx="2">
                  <c:v>25-34</c:v>
                </c:pt>
                <c:pt idx="3">
                  <c:v>35-49</c:v>
                </c:pt>
                <c:pt idx="4">
                  <c:v>50+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58.38</c:v>
                </c:pt>
                <c:pt idx="1">
                  <c:v>58.37</c:v>
                </c:pt>
                <c:pt idx="2">
                  <c:v>58.44</c:v>
                </c:pt>
                <c:pt idx="3">
                  <c:v>58.79</c:v>
                </c:pt>
                <c:pt idx="4">
                  <c:v>58.5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1C-430E-9E6D-A129D7B6CB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Attention span</c:v>
                </c:pt>
              </c:strCache>
            </c:strRef>
          </c:tx>
          <c:spPr>
            <a:ln w="25400" cap="flat">
              <a:solidFill>
                <a:srgbClr val="4B8F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B8F88"/>
              </a:solidFill>
              <a:ln w="9525" cap="flat">
                <a:solidFill>
                  <a:srgbClr val="4B8F8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13-17</c:v>
                </c:pt>
                <c:pt idx="1">
                  <c:v>18-24</c:v>
                </c:pt>
                <c:pt idx="2">
                  <c:v>25-34</c:v>
                </c:pt>
                <c:pt idx="3">
                  <c:v>35-49</c:v>
                </c:pt>
                <c:pt idx="4">
                  <c:v>50+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81.53</c:v>
                </c:pt>
                <c:pt idx="1">
                  <c:v>81.75</c:v>
                </c:pt>
                <c:pt idx="2">
                  <c:v>81.77</c:v>
                </c:pt>
                <c:pt idx="3">
                  <c:v>81.42</c:v>
                </c:pt>
                <c:pt idx="4">
                  <c:v>81.52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1C-430E-9E6D-A129D7B6CB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4"/>
          <c:min val="55"/>
        </c:scaling>
        <c:delete val="0"/>
        <c:axPos val="l"/>
        <c:majorGridlines>
          <c:spPr>
            <a:ln w="6350" cap="flat">
              <a:solidFill>
                <a:srgbClr val="DDD4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DF8"/>
    </a:solidFill>
    <a:ln w="12700" cap="flat">
      <a:solidFill>
        <a:srgbClr val="FFFDF8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Multitasking frequency</c:v>
                </c:pt>
              </c:strCache>
            </c:strRef>
          </c:tx>
          <c:spPr>
            <a:solidFill>
              <a:srgbClr val="3A32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00000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Children</c:v>
                </c:pt>
                <c:pt idx="1">
                  <c:v>Adult</c:v>
                </c:pt>
                <c:pt idx="2">
                  <c:v>Teen</c:v>
                </c:pt>
                <c:pt idx="3">
                  <c:v>Young Adult</c:v>
                </c:pt>
                <c:pt idx="4">
                  <c:v>Senior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49.7</c:v>
                </c:pt>
                <c:pt idx="1">
                  <c:v>49.8</c:v>
                </c:pt>
                <c:pt idx="2">
                  <c:v>49.7</c:v>
                </c:pt>
                <c:pt idx="3">
                  <c:v>50.4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26-4A8A-8841-983C2B26C7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1"/>
          <c:min val="48"/>
        </c:scaling>
        <c:delete val="0"/>
        <c:axPos val="l"/>
        <c:majorGridlines>
          <c:spPr>
            <a:ln w="6350" cap="flat">
              <a:solidFill>
                <a:srgbClr val="DDD4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46B62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DF8"/>
    </a:solidFill>
    <a:ln w="12700" cap="flat">
      <a:solidFill>
        <a:srgbClr val="FFFDF8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77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65A43"/>
          </a:solidFill>
          <a:ln w="12700">
            <a:solidFill>
              <a:srgbClr val="B65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9646920" y="-914400"/>
            <a:ext cx="3977640" cy="3977640"/>
          </a:xfrm>
          <a:prstGeom prst="arc">
            <a:avLst/>
          </a:prstGeom>
          <a:noFill/>
          <a:ln w="19050">
            <a:solidFill>
              <a:srgbClr val="B65A43">
                <a:alpha val="5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-1051560" y="5074920"/>
            <a:ext cx="3063240" cy="3063240"/>
          </a:xfrm>
          <a:prstGeom prst="arc">
            <a:avLst/>
          </a:prstGeom>
          <a:noFill/>
          <a:ln w="19050">
            <a:solidFill>
              <a:srgbClr val="4B8F88">
                <a:alpha val="5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987552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TikTok &amp; Instagram</a:t>
            </a:r>
            <a:endParaRPr lang="en-US" sz="4200" dirty="0"/>
          </a:p>
          <a:p>
            <a:pPr marL="0" indent="0">
              <a:buNone/>
            </a:pPr>
            <a:r>
              <a:rPr lang="en-US" sz="420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Addiction Dataset Report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2633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FE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analysis of country-level, individual-level, and behavioral screen-time datasets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3986784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4B8F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32688" y="4572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kern="0" spc="3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INDIVIDUAL GLOBAL RECORDS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291840" y="3986784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C59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4572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kern="0" spc="3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 RECORDS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833872" y="3986784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16752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B65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16752" y="4572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kern="0" spc="3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COUNTRIES PROFILED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375904" y="3986784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58784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2010–2060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558784" y="4572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kern="0" spc="3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YEARS REPRESENTED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9555480" y="1051560"/>
            <a:ext cx="1737360" cy="1737360"/>
          </a:xfrm>
          <a:prstGeom prst="chevron">
            <a:avLst/>
          </a:prstGeom>
          <a:solidFill>
            <a:srgbClr val="B65A43">
              <a:alpha val="92000"/>
            </a:srgbClr>
          </a:solidFill>
          <a:ln w="12700">
            <a:solidFill>
              <a:srgbClr val="B65A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8823960" y="1828800"/>
            <a:ext cx="1280160" cy="1280160"/>
          </a:xfrm>
          <a:prstGeom prst="chevron">
            <a:avLst/>
          </a:prstGeom>
          <a:solidFill>
            <a:srgbClr val="4B8F88">
              <a:alpha val="88000"/>
            </a:srgbClr>
          </a:solidFill>
          <a:ln w="12700">
            <a:solidFill>
              <a:srgbClr val="4B8F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290779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kern="0" spc="40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DATA-BACKED INSIGHTS</a:t>
            </a:r>
            <a:endParaRPr lang="en-US" sz="960" dirty="0"/>
          </a:p>
          <a:p>
            <a:pPr marL="0" indent="0" algn="ctr">
              <a:buNone/>
            </a:pPr>
            <a:r>
              <a:rPr lang="en-US" sz="960" kern="0" spc="40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WELLBEING STRATEGY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46888"/>
            <a:ext cx="54864" cy="6199632"/>
          </a:xfrm>
          <a:prstGeom prst="rect">
            <a:avLst/>
          </a:prstGeom>
          <a:solidFill>
            <a:srgbClr val="D8CEC1">
              <a:alpha val="75000"/>
            </a:srgbClr>
          </a:solidFill>
          <a:ln w="12700">
            <a:solidFill>
              <a:srgbClr val="D8CE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222992" y="-777240"/>
            <a:ext cx="2423160" cy="2423160"/>
          </a:xfrm>
          <a:prstGeom prst="arc">
            <a:avLst/>
          </a:prstGeom>
          <a:noFill/>
          <a:ln w="15240">
            <a:solidFill>
              <a:srgbClr val="B65A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0">
            <a:off x="-777240" y="5532120"/>
            <a:ext cx="1920240" cy="1920240"/>
          </a:xfrm>
          <a:prstGeom prst="arc">
            <a:avLst/>
          </a:prstGeom>
          <a:noFill/>
          <a:ln w="15240">
            <a:solidFill>
              <a:srgbClr val="4B8F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20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99669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46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strongest signals are behavioral intensity and attention/dopamine indicators; time trends and platform differences are comparatively flat.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34272" y="4114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kern="0" spc="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GLOBAL_SOCIAL_MEDIA_DATASETS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4996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B65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58.55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kern="0" spc="3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ADDICTION SCORE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761488" y="13716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44368" y="14996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4B8F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 min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944368" y="19568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kern="0" spc="3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 DAILY TIKTOK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837176" y="13716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0056" y="14996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C59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min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20056" y="19568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kern="0" spc="3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 DAILY INSTAGRAM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912864" y="13716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95744" y="14996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3A3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100.0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95744" y="19568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kern="0" spc="3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 ASI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988552" y="13716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71432" y="14996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5F7F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7.0 h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71432" y="19568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kern="0" spc="3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SLEEP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777240" y="274320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51560" y="29718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datasets say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401568"/>
            <a:ext cx="45720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Addiction score is tightly coupled to ASI and inversely related to attention span.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Country-level rankings show a narrow band: top and bottom countries differ by only 4.5 score points.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Weekend screen time averages about 2.5 hours more than weekday use across platforms.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missing values were found, but future-year projections and very uniform distributions require caution.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0" y="2743200"/>
            <a:ext cx="4480560" cy="2743200"/>
          </a:xfrm>
          <a:prstGeom prst="roundRect">
            <a:avLst>
              <a:gd name="adj" fmla="val 2667"/>
            </a:avLst>
          </a:prstGeom>
          <a:solidFill>
            <a:srgbClr val="201A1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12280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implication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351129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DE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 interventions that reduce high-intensity scrolling, night usage, and dopamine dependency rather than platform bans. The evidence points to behavioral design and digital hygiene as the highest-leverage response.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 rot="1320000">
            <a:off x="9454896" y="4572000"/>
            <a:ext cx="1188720" cy="1188720"/>
          </a:xfrm>
          <a:prstGeom prst="arc">
            <a:avLst/>
          </a:prstGeom>
          <a:noFill/>
          <a:ln w="38100">
            <a:solidFill>
              <a:srgbClr val="B65A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46888"/>
            <a:ext cx="54864" cy="6199632"/>
          </a:xfrm>
          <a:prstGeom prst="rect">
            <a:avLst/>
          </a:prstGeom>
          <a:solidFill>
            <a:srgbClr val="D8CEC1">
              <a:alpha val="75000"/>
            </a:srgbClr>
          </a:solidFill>
          <a:ln w="12700">
            <a:solidFill>
              <a:srgbClr val="D8CE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222992" y="-777240"/>
            <a:ext cx="2423160" cy="2423160"/>
          </a:xfrm>
          <a:prstGeom prst="arc">
            <a:avLst/>
          </a:prstGeom>
          <a:noFill/>
          <a:ln w="15240">
            <a:solidFill>
              <a:srgbClr val="B65A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0">
            <a:off x="-777240" y="5532120"/>
            <a:ext cx="1920240" cy="1920240"/>
          </a:xfrm>
          <a:prstGeom prst="arc">
            <a:avLst/>
          </a:prstGeom>
          <a:noFill/>
          <a:ln w="15240">
            <a:solidFill>
              <a:srgbClr val="4B8F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20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99669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46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related CSVs: one raw TikTok/Instagram panel, one country aggregate, and one broader platform behavior panel.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34272" y="4114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kern="0" spc="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GLOBAL_SOCIAL_MEDIA_DATASETS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31520" y="1481328"/>
            <a:ext cx="10698480" cy="1847088"/>
          </a:xfrm>
          <a:prstGeom prst="roundRect">
            <a:avLst>
              <a:gd name="adj" fmla="val 3960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1737360"/>
          <a:ext cx="10222992" cy="1188720"/>
        </p:xfrm>
        <a:graphic>
          <a:graphicData uri="http://schemas.openxmlformats.org/drawingml/2006/table">
            <a:tbl>
              <a:tblPr/>
              <a:tblGrid>
                <a:gridCol w="3822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FFF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DATASET</a:t>
                      </a:r>
                      <a:endParaRPr lang="en-US" sz="8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A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80" dirty="0">
                          <a:solidFill>
                            <a:srgbClr val="FFF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ROWS</a:t>
                      </a:r>
                      <a:endParaRPr lang="en-US" sz="8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A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FFF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 RANGE</a:t>
                      </a:r>
                      <a:endParaRPr lang="en-US" sz="8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A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FFF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PRIMARY ROLE</a:t>
                      </a:r>
                      <a:endParaRPr lang="en-US" sz="8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A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tiktok_instagram_global_100countries.csv</a:t>
                      </a:r>
                      <a:endParaRPr lang="en-US" sz="9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10,000</a:t>
                      </a:r>
                      <a:endParaRPr lang="en-US" sz="9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2015–2060</a:t>
                      </a:r>
                      <a:endParaRPr lang="en-US" sz="9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Individual-level social addiction and wellbeing metrics</a:t>
                      </a:r>
                      <a:endParaRPr lang="en-US" sz="9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country_wise_analysis_addiction.csv</a:t>
                      </a:r>
                      <a:endParaRPr lang="en-US" sz="9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9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aggregate</a:t>
                      </a:r>
                      <a:endParaRPr lang="en-US" sz="9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Country-level means and addiction rank from raw panel</a:t>
                      </a:r>
                      <a:endParaRPr lang="en-US" sz="9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screen_time_behavior.csv</a:t>
                      </a:r>
                      <a:endParaRPr lang="en-US" sz="9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50,000</a:t>
                      </a:r>
                      <a:endParaRPr lang="en-US" sz="9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2010–2060</a:t>
                      </a:r>
                      <a:endParaRPr lang="en-US" sz="9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Behavioral screen-time panel across 10 platforms</a:t>
                      </a:r>
                      <a:endParaRPr lang="en-US" sz="9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914400" y="41605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4E4DE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15568" y="444398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missing values in all files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3703320" y="41605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E7F1ED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904488" y="444398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shared countries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492240" y="41605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4E4DE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93408" y="444398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 aggregate matches raw means exactly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9281160" y="41605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E7F1ED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482328" y="444398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panel has 46 years; behavior panel has 51 years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46888"/>
            <a:ext cx="54864" cy="6199632"/>
          </a:xfrm>
          <a:prstGeom prst="rect">
            <a:avLst/>
          </a:prstGeom>
          <a:solidFill>
            <a:srgbClr val="D8CEC1">
              <a:alpha val="75000"/>
            </a:srgbClr>
          </a:solidFill>
          <a:ln w="12700">
            <a:solidFill>
              <a:srgbClr val="D8CE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222992" y="-777240"/>
            <a:ext cx="2423160" cy="2423160"/>
          </a:xfrm>
          <a:prstGeom prst="arc">
            <a:avLst/>
          </a:prstGeom>
          <a:noFill/>
          <a:ln w="15240">
            <a:solidFill>
              <a:srgbClr val="B65A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0">
            <a:off x="-777240" y="5532120"/>
            <a:ext cx="1920240" cy="1920240"/>
          </a:xfrm>
          <a:prstGeom prst="arc">
            <a:avLst/>
          </a:prstGeom>
          <a:noFill/>
          <a:ln w="15240">
            <a:solidFill>
              <a:srgbClr val="4B8F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20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and relationship model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99669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46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treats the country file as a validated aggregate of the raw TikTok/Instagram panel and uses screen behavior as a complementary dataset.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34272" y="4114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kern="0" spc="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GLOBAL_SOCIAL_MEDIA_DATASETS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EEE9DF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" y="2029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panel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10k users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countries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2015–2060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E7F1ED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64608" y="2029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 aggregate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countries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 + means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correlation = 1.00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0" y="18288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E4DE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13648" y="2029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 behavior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4108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50k records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platforms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2010–2060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2240280"/>
            <a:ext cx="914400" cy="411480"/>
          </a:xfrm>
          <a:prstGeom prst="rightArrow">
            <a:avLst/>
          </a:prstGeom>
          <a:solidFill>
            <a:srgbClr val="B65A43"/>
          </a:solidFill>
          <a:ln w="12700">
            <a:solidFill>
              <a:srgbClr val="B65A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4032" y="2240280"/>
            <a:ext cx="914400" cy="411480"/>
          </a:xfrm>
          <a:prstGeom prst="leftRightArrow">
            <a:avLst/>
          </a:prstGeom>
          <a:solidFill>
            <a:srgbClr val="4B8F88"/>
          </a:solidFill>
          <a:ln w="12700">
            <a:solidFill>
              <a:srgbClr val="4B8F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3977640"/>
            <a:ext cx="1010412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34440" y="4224528"/>
            <a:ext cx="93268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profiling: row counts, column types, ranges, missingness, duplicated user IDs.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 analysis: yearly trends, country rankings, age groups, platforms, and correlation screens.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Interpretation rule: insights are reported only when a clear numeric pattern supports them.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46888"/>
            <a:ext cx="54864" cy="6199632"/>
          </a:xfrm>
          <a:prstGeom prst="rect">
            <a:avLst/>
          </a:prstGeom>
          <a:solidFill>
            <a:srgbClr val="D8CEC1">
              <a:alpha val="75000"/>
            </a:srgbClr>
          </a:solidFill>
          <a:ln w="12700">
            <a:solidFill>
              <a:srgbClr val="D8CE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222992" y="-777240"/>
            <a:ext cx="2423160" cy="2423160"/>
          </a:xfrm>
          <a:prstGeom prst="arc">
            <a:avLst/>
          </a:prstGeom>
          <a:noFill/>
          <a:ln w="15240">
            <a:solidFill>
              <a:srgbClr val="B65A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0">
            <a:off x="-777240" y="5532120"/>
            <a:ext cx="1920240" cy="1920240"/>
          </a:xfrm>
          <a:prstGeom prst="arc">
            <a:avLst/>
          </a:prstGeom>
          <a:noFill/>
          <a:ln w="15240">
            <a:solidFill>
              <a:srgbClr val="4B8F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20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 map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99669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46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Addiction_score combines behavior intensity with attention and dopamine response measures; ASI is the strongest composite signal.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34272" y="4114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kern="0" spc="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GLOBAL_SOCIAL_MEDIA_DATASETS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1655064"/>
            <a:ext cx="502920" cy="502920"/>
          </a:xfrm>
          <a:prstGeom prst="ellipse">
            <a:avLst/>
          </a:prstGeom>
          <a:solidFill>
            <a:srgbClr val="B65A43"/>
          </a:solidFill>
          <a:ln w="12700">
            <a:solidFill>
              <a:srgbClr val="B65A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 intensity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19842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TikTok minutes, Instagram minutes, night usage, scroll velocity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132588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1655064"/>
            <a:ext cx="502920" cy="502920"/>
          </a:xfrm>
          <a:prstGeom prst="ellipse">
            <a:avLst/>
          </a:prstGeom>
          <a:solidFill>
            <a:srgbClr val="4B8F88"/>
          </a:solidFill>
          <a:ln w="12700">
            <a:solidFill>
              <a:srgbClr val="4B8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Cognitive response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69480" y="19842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Attention span score, impulsivity index, dopamine dependency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20040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3529584"/>
            <a:ext cx="502920" cy="502920"/>
          </a:xfrm>
          <a:prstGeom prst="ellipse">
            <a:avLst/>
          </a:prstGeom>
          <a:solidFill>
            <a:srgbClr val="C59A47"/>
          </a:solidFill>
          <a:ln w="12700">
            <a:solidFill>
              <a:srgbClr val="C59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Wellbeing context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91640" y="38587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Sleep hours, sleep quality, mental-health support index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320040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3529584"/>
            <a:ext cx="502920" cy="502920"/>
          </a:xfrm>
          <a:prstGeom prst="ellipse">
            <a:avLst/>
          </a:prstGeom>
          <a:solidFill>
            <a:srgbClr val="3A322E"/>
          </a:solidFill>
          <a:ln w="12700">
            <a:solidFill>
              <a:srgbClr val="3A32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Composite outputs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8587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ASI, MHRI, addiction_score, addiction_level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11680" y="5239512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201A1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331720" y="5468112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model as an indicator framework, not a clinical diagnosis.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46888"/>
            <a:ext cx="54864" cy="6199632"/>
          </a:xfrm>
          <a:prstGeom prst="rect">
            <a:avLst/>
          </a:prstGeom>
          <a:solidFill>
            <a:srgbClr val="D8CEC1">
              <a:alpha val="75000"/>
            </a:srgbClr>
          </a:solidFill>
          <a:ln w="12700">
            <a:solidFill>
              <a:srgbClr val="D8CE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222992" y="-777240"/>
            <a:ext cx="2423160" cy="2423160"/>
          </a:xfrm>
          <a:prstGeom prst="arc">
            <a:avLst/>
          </a:prstGeom>
          <a:noFill/>
          <a:ln w="15240">
            <a:solidFill>
              <a:srgbClr val="B65A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0">
            <a:off x="-777240" y="5532120"/>
            <a:ext cx="1920240" cy="1920240"/>
          </a:xfrm>
          <a:prstGeom prst="arc">
            <a:avLst/>
          </a:prstGeom>
          <a:noFill/>
          <a:ln w="15240">
            <a:solidFill>
              <a:srgbClr val="4B8F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20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profile of the TikTok/Instagram panel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92811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46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usage is high on average, while addiction scores cluster in the High band with a long lower tail.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34272" y="4114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kern="0" spc="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GLOBAL_SOCIAL_MEDIA_DATASETS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20700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24358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B65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121 min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68680" y="17007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kern="0" spc="3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TIKTOK DAILY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788920" y="120700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71800" y="124358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4B8F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min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971800" y="17007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kern="0" spc="3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INSTAGRAM DAILY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892040" y="120700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124358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3A3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58.55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74920" y="17007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kern="0" spc="3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ADDICTION SCORE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995160" y="120700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124358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5F7F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78040" y="17007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kern="0" spc="3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ATTENTION SCORE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9098280" y="120700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81160" y="124358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C59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281160" y="17007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kern="0" spc="3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SLEEP QUALITY</a:t>
            </a:r>
            <a:endParaRPr lang="en-US" sz="82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868680" y="2743200"/>
          <a:ext cx="1042416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46888"/>
            <a:ext cx="54864" cy="6199632"/>
          </a:xfrm>
          <a:prstGeom prst="rect">
            <a:avLst/>
          </a:prstGeom>
          <a:solidFill>
            <a:srgbClr val="D8CEC1">
              <a:alpha val="75000"/>
            </a:srgbClr>
          </a:solidFill>
          <a:ln w="12700">
            <a:solidFill>
              <a:srgbClr val="D8CE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222992" y="-777240"/>
            <a:ext cx="2423160" cy="2423160"/>
          </a:xfrm>
          <a:prstGeom prst="arc">
            <a:avLst/>
          </a:prstGeom>
          <a:noFill/>
          <a:ln w="15240">
            <a:solidFill>
              <a:srgbClr val="B65A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0">
            <a:off x="-777240" y="5532120"/>
            <a:ext cx="1920240" cy="1920240"/>
          </a:xfrm>
          <a:prstGeom prst="arc">
            <a:avLst/>
          </a:prstGeom>
          <a:noFill/>
          <a:ln w="15240">
            <a:solidFill>
              <a:srgbClr val="4B8F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20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trend: projected years are broadly flat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99669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46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addiction score drifts down slightly from 2015 to 2060; the dataset does not show a sustained upward trend.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34272" y="4114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kern="0" spc="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GLOBAL_SOCIAL_MEDIA_DATASETS</a:t>
            </a:r>
            <a:endParaRPr lang="en-US" sz="78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0" y="1280160"/>
          <a:ext cx="67665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863840" y="146304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18388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readout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83880" y="2240280"/>
            <a:ext cx="265176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2015 mean addiction score: 58.84.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2060 mean addiction score: 57.65.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 TikTok and Instagram minutes fluctuate but do not form a monotonic rise.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Interpretation: this looks more like a simulation/projection panel than observed time-series growth.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46888"/>
            <a:ext cx="54864" cy="6199632"/>
          </a:xfrm>
          <a:prstGeom prst="rect">
            <a:avLst/>
          </a:prstGeom>
          <a:solidFill>
            <a:srgbClr val="D8CEC1">
              <a:alpha val="75000"/>
            </a:srgbClr>
          </a:solidFill>
          <a:ln w="12700">
            <a:solidFill>
              <a:srgbClr val="D8CE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222992" y="-777240"/>
            <a:ext cx="2423160" cy="2423160"/>
          </a:xfrm>
          <a:prstGeom prst="arc">
            <a:avLst/>
          </a:prstGeom>
          <a:noFill/>
          <a:ln w="15240">
            <a:solidFill>
              <a:srgbClr val="B65A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0">
            <a:off x="-777240" y="5532120"/>
            <a:ext cx="1920240" cy="1920240"/>
          </a:xfrm>
          <a:prstGeom prst="arc">
            <a:avLst/>
          </a:prstGeom>
          <a:noFill/>
          <a:ln w="15240">
            <a:solidFill>
              <a:srgbClr val="4B8F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20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drivers and correlations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99669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46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strongest explanatory relationships are composite ASI, attention span, dopamine dependency, and daily app minutes.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34272" y="4114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kern="0" spc="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GLOBAL_SOCIAL_MEDIA_DATASETS</a:t>
            </a:r>
            <a:endParaRPr lang="en-US" sz="78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77240" y="123444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463040"/>
            <a:ext cx="3429000" cy="3749040"/>
          </a:xfrm>
          <a:prstGeom prst="roundRect">
            <a:avLst>
              <a:gd name="adj" fmla="val 2133"/>
            </a:avLst>
          </a:prstGeom>
          <a:solidFill>
            <a:srgbClr val="201A1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94192" y="17830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394192" y="22860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DE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Attention and dopamine move as mirrored signals: lower attention span is associated with higher dopamine dependency and higher addiction score. Usage minutes matter, but less than the cognitive-response measures.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46888"/>
            <a:ext cx="54864" cy="6199632"/>
          </a:xfrm>
          <a:prstGeom prst="rect">
            <a:avLst/>
          </a:prstGeom>
          <a:solidFill>
            <a:srgbClr val="D8CEC1">
              <a:alpha val="75000"/>
            </a:srgbClr>
          </a:solidFill>
          <a:ln w="12700">
            <a:solidFill>
              <a:srgbClr val="D8CE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222992" y="-777240"/>
            <a:ext cx="2423160" cy="2423160"/>
          </a:xfrm>
          <a:prstGeom prst="arc">
            <a:avLst/>
          </a:prstGeom>
          <a:noFill/>
          <a:ln w="15240">
            <a:solidFill>
              <a:srgbClr val="B65A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0">
            <a:off x="-777240" y="5532120"/>
            <a:ext cx="1920240" cy="1920240"/>
          </a:xfrm>
          <a:prstGeom prst="arc">
            <a:avLst/>
          </a:prstGeom>
          <a:noFill/>
          <a:ln w="15240">
            <a:solidFill>
              <a:srgbClr val="4B8F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7261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20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 comparison: rankings are real but differences are small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87096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46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top country average is 60.47 versus 55.96 at the bottom: a narrow 4.51-point spread.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34272" y="4114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kern="0" spc="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GLOBAL_SOCIAL_MEDIA_DATASETS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5257800" cy="4846320"/>
          </a:xfrm>
          <a:prstGeom prst="roundRect">
            <a:avLst>
              <a:gd name="adj" fmla="val 150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78408" y="1307592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65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 addiction score countries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1709928"/>
          <a:ext cx="4732020" cy="4059936"/>
        </p:xfrm>
        <a:graphic>
          <a:graphicData uri="http://schemas.openxmlformats.org/drawingml/2006/table">
            <a:tbl>
              <a:tblPr/>
              <a:tblGrid>
                <a:gridCol w="2523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746B6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COUNTRY</a:t>
                      </a:r>
                      <a:endParaRPr lang="en-US" sz="8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746B6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SCORE</a:t>
                      </a:r>
                      <a:endParaRPr lang="en-US" sz="8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746B6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DAILY MIN</a:t>
                      </a:r>
                      <a:endParaRPr lang="en-US" sz="8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Tanzania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60.47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242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Indonesia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60.47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235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Argentina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60.43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236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Canada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60.35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232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Spain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60.14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233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Malaysia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60.08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235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Panama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60.02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232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355080" y="1143000"/>
            <a:ext cx="5257800" cy="4846320"/>
          </a:xfrm>
          <a:prstGeom prst="roundRect">
            <a:avLst>
              <a:gd name="adj" fmla="val 150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56248" y="1307592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7F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Lowest addiction score countries</a:t>
            </a:r>
            <a:endParaRPr lang="en-US" sz="16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709928"/>
          <a:ext cx="4732020" cy="4059936"/>
        </p:xfrm>
        <a:graphic>
          <a:graphicData uri="http://schemas.openxmlformats.org/drawingml/2006/table">
            <a:tbl>
              <a:tblPr/>
              <a:tblGrid>
                <a:gridCol w="2523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746B6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COUNTRY</a:t>
                      </a:r>
                      <a:endParaRPr lang="en-US" sz="8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746B6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SCORE</a:t>
                      </a:r>
                      <a:endParaRPr lang="en-US" sz="8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746B6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DAILY MIN</a:t>
                      </a:r>
                      <a:endParaRPr lang="en-US" sz="8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Zambia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55.96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203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Iran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56.02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207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Mongolia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56.06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201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Brazil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56.21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207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Honduras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56.40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207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Pakistan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56.93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211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Uruguay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56.96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dirty="0">
                          <a:solidFill>
                            <a:srgbClr val="2C2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213</a:t>
                      </a:r>
                      <a:endParaRPr lang="en-US" sz="10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1148" marR="41148" marT="41148" marB="41148">
                    <a:lnL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102352" y="6053328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201A1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257800" y="6217920"/>
            <a:ext cx="16642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4.51-point country spread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46888"/>
            <a:ext cx="54864" cy="6199632"/>
          </a:xfrm>
          <a:prstGeom prst="rect">
            <a:avLst/>
          </a:prstGeom>
          <a:solidFill>
            <a:srgbClr val="D8CEC1">
              <a:alpha val="75000"/>
            </a:srgbClr>
          </a:solidFill>
          <a:ln w="12700">
            <a:solidFill>
              <a:srgbClr val="D8CE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222992" y="-777240"/>
            <a:ext cx="2423160" cy="2423160"/>
          </a:xfrm>
          <a:prstGeom prst="arc">
            <a:avLst/>
          </a:prstGeom>
          <a:noFill/>
          <a:ln w="15240">
            <a:solidFill>
              <a:srgbClr val="B65A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0">
            <a:off x="-777240" y="5532120"/>
            <a:ext cx="1920240" cy="1920240"/>
          </a:xfrm>
          <a:prstGeom prst="arc">
            <a:avLst/>
          </a:prstGeom>
          <a:noFill/>
          <a:ln w="15240">
            <a:solidFill>
              <a:srgbClr val="4B8F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20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Country-level drivers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96240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46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aggregate level, ASI and cognitive indicators dominate; mental-health support and sleep are not predictive in this file.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34272" y="4114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kern="0" spc="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GLOBAL_SOCIAL_MEDIA_DATASETS</a:t>
            </a:r>
            <a:endParaRPr lang="en-US" sz="78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22960" y="1234440"/>
          <a:ext cx="74523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686800" y="1417320"/>
            <a:ext cx="2514600" cy="3886200"/>
          </a:xfrm>
          <a:prstGeom prst="roundRect">
            <a:avLst>
              <a:gd name="adj" fmla="val 2909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961120" y="1737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Data-backed finding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79408" y="2331720"/>
            <a:ext cx="1920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Mental health support index is nearly uncorrelated with country addiction score in the aggregate file (r≈-0.02). This does not mean support is ineffective; it means this dataset does not encode that relationship.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46888"/>
            <a:ext cx="54864" cy="6199632"/>
          </a:xfrm>
          <a:prstGeom prst="rect">
            <a:avLst/>
          </a:prstGeom>
          <a:solidFill>
            <a:srgbClr val="D8CEC1">
              <a:alpha val="75000"/>
            </a:srgbClr>
          </a:solidFill>
          <a:ln w="12700">
            <a:solidFill>
              <a:srgbClr val="D8CE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222992" y="-777240"/>
            <a:ext cx="2423160" cy="2423160"/>
          </a:xfrm>
          <a:prstGeom prst="arc">
            <a:avLst/>
          </a:prstGeom>
          <a:noFill/>
          <a:ln w="15240">
            <a:solidFill>
              <a:srgbClr val="B65A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0">
            <a:off x="-777240" y="5532120"/>
            <a:ext cx="1920240" cy="1920240"/>
          </a:xfrm>
          <a:prstGeom prst="arc">
            <a:avLst/>
          </a:prstGeom>
          <a:noFill/>
          <a:ln w="15240">
            <a:solidFill>
              <a:srgbClr val="4B8F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7261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20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Screen-time behavior: weekend lift is consistent across platforms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98526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46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50,000 behavior records, weekends average about 8 hours/day versus 5.5 hours/day on weekdays.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34272" y="4114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kern="0" spc="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GLOBAL_SOCIAL_MEDIA_DATASETS</a:t>
            </a:r>
            <a:endParaRPr lang="en-US" sz="78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0" y="1234440"/>
          <a:ext cx="74980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549640" y="1417320"/>
            <a:ext cx="2788920" cy="3840480"/>
          </a:xfrm>
          <a:prstGeom prst="roundRect">
            <a:avLst>
              <a:gd name="adj" fmla="val 2623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851392" y="1737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readout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15400" y="2240280"/>
            <a:ext cx="19202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Discord has the highest weekend mean: 8.06 h/day.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Instagram and TikTok are mid-pack in the broader behavior file.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differences are small; day type matters more than platform label.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46888"/>
            <a:ext cx="54864" cy="6199632"/>
          </a:xfrm>
          <a:prstGeom prst="rect">
            <a:avLst/>
          </a:prstGeom>
          <a:solidFill>
            <a:srgbClr val="D8CEC1">
              <a:alpha val="75000"/>
            </a:srgbClr>
          </a:solidFill>
          <a:ln w="12700">
            <a:solidFill>
              <a:srgbClr val="D8CE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222992" y="-777240"/>
            <a:ext cx="2423160" cy="2423160"/>
          </a:xfrm>
          <a:prstGeom prst="arc">
            <a:avLst/>
          </a:prstGeom>
          <a:noFill/>
          <a:ln w="15240">
            <a:solidFill>
              <a:srgbClr val="B65A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0">
            <a:off x="-777240" y="5532120"/>
            <a:ext cx="1920240" cy="1920240"/>
          </a:xfrm>
          <a:prstGeom prst="arc">
            <a:avLst/>
          </a:prstGeom>
          <a:noFill/>
          <a:ln w="15240">
            <a:solidFill>
              <a:srgbClr val="4B8F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20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 correlation screen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96240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46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broader behavior panel shows near-zero correlations between screen hours, multitasking, focus span, and physical activity.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34272" y="4114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kern="0" spc="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GLOBAL_SOCIAL_MEDIA_DATASETS</a:t>
            </a:r>
            <a:endParaRPr lang="en-US" sz="78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77240" y="1234440"/>
          <a:ext cx="76352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823960" y="1417320"/>
            <a:ext cx="2423160" cy="3703320"/>
          </a:xfrm>
          <a:prstGeom prst="roundRect">
            <a:avLst>
              <a:gd name="adj" fmla="val 3019"/>
            </a:avLst>
          </a:prstGeom>
          <a:solidFill>
            <a:srgbClr val="201A1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098280" y="1737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098280" y="2240280"/>
            <a:ext cx="1920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DE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file is useful for descriptive segmentation, but it does not support causal claims that higher screen hours reduce focus or activity. The variables appear independently generated or weakly linked.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46888"/>
            <a:ext cx="54864" cy="6199632"/>
          </a:xfrm>
          <a:prstGeom prst="rect">
            <a:avLst/>
          </a:prstGeom>
          <a:solidFill>
            <a:srgbClr val="D8CEC1">
              <a:alpha val="75000"/>
            </a:srgbClr>
          </a:solidFill>
          <a:ln w="12700">
            <a:solidFill>
              <a:srgbClr val="D8CE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222992" y="-777240"/>
            <a:ext cx="2423160" cy="2423160"/>
          </a:xfrm>
          <a:prstGeom prst="arc">
            <a:avLst/>
          </a:prstGeom>
          <a:noFill/>
          <a:ln w="15240">
            <a:solidFill>
              <a:srgbClr val="B65A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0">
            <a:off x="-777240" y="5532120"/>
            <a:ext cx="1920240" cy="1920240"/>
          </a:xfrm>
          <a:prstGeom prst="arc">
            <a:avLst/>
          </a:prstGeom>
          <a:noFill/>
          <a:ln w="15240">
            <a:solidFill>
              <a:srgbClr val="4B8F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20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comparison across the related datasets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96240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46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 differences are modest; young adults multitask more in the behavior file, while addiction scores peak in the 35–49 band in the raw panel.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34272" y="4114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kern="0" spc="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GLOBAL_SOCIAL_MEDIA_DATASETS</a:t>
            </a:r>
            <a:endParaRPr lang="en-US" sz="78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85800" y="1234440"/>
          <a:ext cx="51206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6309360" y="1234440"/>
          <a:ext cx="49377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46888"/>
            <a:ext cx="54864" cy="6199632"/>
          </a:xfrm>
          <a:prstGeom prst="rect">
            <a:avLst/>
          </a:prstGeom>
          <a:solidFill>
            <a:srgbClr val="D8CEC1">
              <a:alpha val="75000"/>
            </a:srgbClr>
          </a:solidFill>
          <a:ln w="12700">
            <a:solidFill>
              <a:srgbClr val="D8CE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222992" y="-777240"/>
            <a:ext cx="2423160" cy="2423160"/>
          </a:xfrm>
          <a:prstGeom prst="arc">
            <a:avLst/>
          </a:prstGeom>
          <a:noFill/>
          <a:ln w="15240">
            <a:solidFill>
              <a:srgbClr val="B65A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0">
            <a:off x="-777240" y="5532120"/>
            <a:ext cx="1920240" cy="1920240"/>
          </a:xfrm>
          <a:prstGeom prst="arc">
            <a:avLst/>
          </a:prstGeom>
          <a:noFill/>
          <a:ln w="15240">
            <a:solidFill>
              <a:srgbClr val="4B8F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20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and limitations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99669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46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files are internally complete and consistent, but the analytical frame requires explicit assumptions.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34272" y="4114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kern="0" spc="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GLOBAL_SOCIAL_MEDIA_DATASETS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868680" y="132588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1682496"/>
            <a:ext cx="438912" cy="438912"/>
          </a:xfrm>
          <a:prstGeom prst="ellipse">
            <a:avLst/>
          </a:prstGeom>
          <a:solidFill>
            <a:srgbClr val="5F7F58"/>
          </a:solidFill>
          <a:ln w="12700">
            <a:solidFill>
              <a:srgbClr val="5F7F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1527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37360" y="19110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missing values; clear schemas; exact country aggregate alignment; large 50k behavior panel.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46520" y="132588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75120" y="1682496"/>
            <a:ext cx="438912" cy="438912"/>
          </a:xfrm>
          <a:prstGeom prst="ellipse">
            <a:avLst/>
          </a:prstGeom>
          <a:solidFill>
            <a:srgbClr val="B65A43"/>
          </a:solidFill>
          <a:ln w="12700">
            <a:solidFill>
              <a:srgbClr val="B65A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527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Concern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0" y="19110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years through 2060 indicate projections or synthetic data, not purely observed history.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68680" y="324612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97280" y="3602736"/>
            <a:ext cx="438912" cy="438912"/>
          </a:xfrm>
          <a:prstGeom prst="ellipse">
            <a:avLst/>
          </a:prstGeom>
          <a:solidFill>
            <a:srgbClr val="B65A43"/>
          </a:solidFill>
          <a:ln w="12700">
            <a:solidFill>
              <a:srgbClr val="B65A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34472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Concern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38313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variables have near-perfect or formula-like relationships, especially ASI to addiction score.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446520" y="324612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3602736"/>
            <a:ext cx="438912" cy="438912"/>
          </a:xfrm>
          <a:prstGeom prst="ellipse">
            <a:avLst/>
          </a:prstGeom>
          <a:solidFill>
            <a:srgbClr val="C59A47"/>
          </a:solidFill>
          <a:ln w="12700">
            <a:solidFill>
              <a:srgbClr val="C59A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34472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Concern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38313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Behavior file contains non TikTok/Instagram platforms and begins in 2010, before TikTok existed.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1920240" y="5504688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201A1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40280" y="5678424"/>
            <a:ext cx="7680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Conclusion: use the dataset for pattern exploration, scenario analysis, and dashboard prototypes—not clinical prevalence estimates.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46888"/>
            <a:ext cx="54864" cy="6199632"/>
          </a:xfrm>
          <a:prstGeom prst="rect">
            <a:avLst/>
          </a:prstGeom>
          <a:solidFill>
            <a:srgbClr val="D8CEC1">
              <a:alpha val="75000"/>
            </a:srgbClr>
          </a:solidFill>
          <a:ln w="12700">
            <a:solidFill>
              <a:srgbClr val="D8CE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222992" y="-777240"/>
            <a:ext cx="2423160" cy="2423160"/>
          </a:xfrm>
          <a:prstGeom prst="arc">
            <a:avLst/>
          </a:prstGeom>
          <a:noFill/>
          <a:ln w="15240">
            <a:solidFill>
              <a:srgbClr val="B65A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0">
            <a:off x="-777240" y="5532120"/>
            <a:ext cx="1920240" cy="1920240"/>
          </a:xfrm>
          <a:prstGeom prst="arc">
            <a:avLst/>
          </a:prstGeom>
          <a:noFill/>
          <a:ln w="15240">
            <a:solidFill>
              <a:srgbClr val="4B8F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6118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20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859536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46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 target the measurable risk drivers in the data rather than unsupported demographic or platform assumptions.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34272" y="4114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kern="0" spc="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GLOBAL_SOCIAL_MEDIA_DATASETS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868680" y="1124712"/>
            <a:ext cx="1037844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43000" y="1289304"/>
            <a:ext cx="329184" cy="329184"/>
          </a:xfrm>
          <a:prstGeom prst="ellipse">
            <a:avLst/>
          </a:prstGeom>
          <a:solidFill>
            <a:srgbClr val="B65A43"/>
          </a:solidFill>
          <a:ln w="12700">
            <a:solidFill>
              <a:srgbClr val="B65A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1385316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19072" y="12893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against endless loops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1289304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Interrupt high-velocity scrolling with natural stopping cues and usage summaries.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68680" y="2084832"/>
            <a:ext cx="1037844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43000" y="2249424"/>
            <a:ext cx="329184" cy="329184"/>
          </a:xfrm>
          <a:prstGeom prst="ellipse">
            <a:avLst/>
          </a:prstGeom>
          <a:solidFill>
            <a:srgbClr val="4B8F88"/>
          </a:solidFill>
          <a:ln w="12700">
            <a:solidFill>
              <a:srgbClr val="4B8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2728" y="2345436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19072" y="22494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 nights first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2249424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Night usage is tied to sleep quality; prioritize bedtime nudges and quiet-hour defaults.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68680" y="3044952"/>
            <a:ext cx="1037844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43000" y="3209544"/>
            <a:ext cx="329184" cy="329184"/>
          </a:xfrm>
          <a:prstGeom prst="ellipse">
            <a:avLst/>
          </a:prstGeom>
          <a:solidFill>
            <a:srgbClr val="C59A47"/>
          </a:solidFill>
          <a:ln w="12700">
            <a:solidFill>
              <a:srgbClr val="C59A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52728" y="3305556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19072" y="32095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 cognitive response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3209544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attention-span and impulse-control proxies alongside time-spent metrics.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68680" y="4005072"/>
            <a:ext cx="1037844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143000" y="4169664"/>
            <a:ext cx="329184" cy="329184"/>
          </a:xfrm>
          <a:prstGeom prst="ellipse">
            <a:avLst/>
          </a:prstGeom>
          <a:solidFill>
            <a:srgbClr val="3A322E"/>
          </a:solidFill>
          <a:ln w="12700">
            <a:solidFill>
              <a:srgbClr val="3A32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52728" y="4265676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719072" y="4169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 by behavior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89120" y="4169664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high weekend lift, high multitasking, and low focus patterns, not country alone.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68680" y="4965192"/>
            <a:ext cx="1037844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143000" y="5129784"/>
            <a:ext cx="329184" cy="329184"/>
          </a:xfrm>
          <a:prstGeom prst="ellipse">
            <a:avLst/>
          </a:prstGeom>
          <a:solidFill>
            <a:srgbClr val="5F7F58"/>
          </a:solidFill>
          <a:ln w="12700">
            <a:solidFill>
              <a:srgbClr val="5F7F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52728" y="5225796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19072" y="51297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with observed data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89120" y="5129784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policy decisions, compare these projections with real app logs or survey panels.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0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65A43"/>
          </a:solidFill>
          <a:ln w="12700">
            <a:solidFill>
              <a:srgbClr val="B65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9646920" y="-914400"/>
            <a:ext cx="3977640" cy="3977640"/>
          </a:xfrm>
          <a:prstGeom prst="arc">
            <a:avLst/>
          </a:prstGeom>
          <a:noFill/>
          <a:ln w="19050">
            <a:solidFill>
              <a:srgbClr val="B65A43">
                <a:alpha val="5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-1051560" y="5074920"/>
            <a:ext cx="3063240" cy="3063240"/>
          </a:xfrm>
          <a:prstGeom prst="arc">
            <a:avLst/>
          </a:prstGeom>
          <a:noFill/>
          <a:ln w="19050">
            <a:solidFill>
              <a:srgbClr val="4B8F88">
                <a:alpha val="5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8183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1586484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6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datasets tell a clear story about intensity-driven digital dependency, but they are best treated as a modeled analytical environment rather than observed global prevalence.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36758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finding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40873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Attention and dopamine indicators explain addiction score better than demographics.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34290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36758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40873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night use and scrolling intensity; monitor cognitive wellbeing metrics.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83880" y="34290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8890">
            <a:solidFill>
              <a:srgbClr val="D8CEC1">
                <a:alpha val="7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8200" y="36758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1A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58200" y="40873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C2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Future-year scope and formula-like metrics limit causal and prevalence claims.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173968" y="6327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4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1378</Words>
  <Application>Microsoft Office PowerPoint</Application>
  <PresentationFormat>Widescreen</PresentationFormat>
  <Paragraphs>256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analysis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TikTok &amp; Instagram Addiction Dataset Report</dc:title>
  <dc:subject>Global TikTok &amp; Instagram Addiction Dataset Report</dc:subject>
  <dc:creator>Tirtayasa</dc:creator>
  <cp:lastModifiedBy>Abdul Tirtayasa</cp:lastModifiedBy>
  <cp:revision>2</cp:revision>
  <dcterms:created xsi:type="dcterms:W3CDTF">2026-06-03T08:30:14Z</dcterms:created>
  <dcterms:modified xsi:type="dcterms:W3CDTF">2026-06-03T08:45:47Z</dcterms:modified>
</cp:coreProperties>
</file>